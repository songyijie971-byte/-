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3" r:id="rId5"/>
    <p:sldId id="258" r:id="rId6"/>
    <p:sldId id="284" r:id="rId7"/>
    <p:sldId id="285" r:id="rId8"/>
    <p:sldId id="289" r:id="rId9"/>
    <p:sldId id="316" r:id="rId10"/>
    <p:sldId id="317" r:id="rId11"/>
    <p:sldId id="299" r:id="rId12"/>
    <p:sldId id="318" r:id="rId13"/>
    <p:sldId id="308" r:id="rId14"/>
    <p:sldId id="319" r:id="rId15"/>
    <p:sldId id="320" r:id="rId16"/>
    <p:sldId id="321" r:id="rId17"/>
    <p:sldId id="306" r:id="rId18"/>
    <p:sldId id="30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0807"/>
    <a:srgbClr val="DBDBDB"/>
    <a:srgbClr val="7D1B1C"/>
    <a:srgbClr val="C42B2E"/>
    <a:srgbClr val="A92121"/>
    <a:srgbClr val="981A1B"/>
    <a:srgbClr val="750909"/>
    <a:srgbClr val="C52A2E"/>
    <a:srgbClr val="953735"/>
    <a:srgbClr val="D99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6" autoAdjust="0"/>
    <p:restoredTop sz="94660"/>
  </p:normalViewPr>
  <p:slideViewPr>
    <p:cSldViewPr showGuides="1">
      <p:cViewPr varScale="1">
        <p:scale>
          <a:sx n="63" d="100"/>
          <a:sy n="63" d="100"/>
        </p:scale>
        <p:origin x="356" y="60"/>
      </p:cViewPr>
      <p:guideLst>
        <p:guide orient="horz" pos="214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CDC21-02B5-4DA2-9E37-54A8FA2BF5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image" Target="../media/image4.jpe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5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microsoft.com/office/2007/relationships/hdphoto" Target="../media/image21.wdp"/><Relationship Id="rId3" Type="http://schemas.openxmlformats.org/officeDocument/2006/relationships/image" Target="../media/image20.png"/><Relationship Id="rId2" Type="http://schemas.microsoft.com/office/2007/relationships/hdphoto" Target="../media/image19.wdp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96688" y="0"/>
            <a:ext cx="12385376" cy="6858000"/>
          </a:xfrm>
          <a:prstGeom prst="rect">
            <a:avLst/>
          </a:prstGeom>
          <a:solidFill>
            <a:srgbClr val="7D1B1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-528961" y="2659478"/>
            <a:ext cx="13213080" cy="3052398"/>
            <a:chOff x="-528961" y="2742094"/>
            <a:chExt cx="13213080" cy="3052398"/>
          </a:xfrm>
        </p:grpSpPr>
        <p:sp>
          <p:nvSpPr>
            <p:cNvPr id="8" name="文本框 7"/>
            <p:cNvSpPr txBox="1"/>
            <p:nvPr/>
          </p:nvSpPr>
          <p:spPr>
            <a:xfrm>
              <a:off x="-528961" y="2742094"/>
              <a:ext cx="13213080" cy="188912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智慧课堂行为识别与分析系统的设计与实现</a:t>
              </a:r>
              <a:endPara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毕业设计答辩</a:t>
              </a:r>
              <a:endParaRPr lang="zh-CN" altLang="en-US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51992" y="4872472"/>
              <a:ext cx="328803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答辩人：宋奕杰</a:t>
              </a:r>
              <a:r>
                <a:rPr lang="en-US" altLang="zh-CN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22-3</a:t>
              </a: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软件工程</a:t>
              </a:r>
              <a:endPara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指导老师：</a:t>
              </a: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郭爽</a:t>
              </a:r>
              <a:endPara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1442058" y="4735752"/>
              <a:ext cx="9621008" cy="0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/>
              </a:solidFill>
              <a:prstDash val="solid"/>
            </a:ln>
            <a:effectLst/>
          </p:spPr>
        </p:cxnSp>
      </p:grpSp>
      <p:grpSp>
        <p:nvGrpSpPr>
          <p:cNvPr id="12" name="组合 11"/>
          <p:cNvGrpSpPr/>
          <p:nvPr/>
        </p:nvGrpSpPr>
        <p:grpSpPr>
          <a:xfrm>
            <a:off x="5159896" y="5805001"/>
            <a:ext cx="1746919" cy="368300"/>
            <a:chOff x="5159896" y="6474952"/>
            <a:chExt cx="1746919" cy="368300"/>
          </a:xfrm>
        </p:grpSpPr>
        <p:sp>
          <p:nvSpPr>
            <p:cNvPr id="13" name="文本框 12"/>
            <p:cNvSpPr txBox="1"/>
            <p:nvPr/>
          </p:nvSpPr>
          <p:spPr>
            <a:xfrm>
              <a:off x="5511501" y="6474952"/>
              <a:ext cx="111379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2026.5.23</a:t>
              </a:r>
              <a:endParaRPr lang="zh-CN" altLang="en-US" b="1" baseline="30000" dirty="0">
                <a:solidFill>
                  <a:schemeClr val="bg1"/>
                </a:solidFill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5159896" y="6659618"/>
              <a:ext cx="32346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583346" y="6640337"/>
              <a:ext cx="32346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623391" y="6287540"/>
            <a:ext cx="4241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sz="24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 contrast="10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56" r="-1666"/>
          <a:stretch>
            <a:fillRect/>
          </a:stretch>
        </p:blipFill>
        <p:spPr>
          <a:xfrm>
            <a:off x="2384367" y="811142"/>
            <a:ext cx="7423253" cy="1552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416174" y="3384462"/>
            <a:ext cx="7620739" cy="2847390"/>
            <a:chOff x="2731093" y="3024422"/>
            <a:chExt cx="7620739" cy="2847390"/>
          </a:xfrm>
        </p:grpSpPr>
        <p:sp>
          <p:nvSpPr>
            <p:cNvPr id="26" name="矩形 25"/>
            <p:cNvSpPr/>
            <p:nvPr>
              <p:custDataLst>
                <p:tags r:id="rId2"/>
              </p:custDataLst>
            </p:nvPr>
          </p:nvSpPr>
          <p:spPr bwMode="auto">
            <a:xfrm>
              <a:off x="2731093" y="3024422"/>
              <a:ext cx="684076" cy="684076"/>
            </a:xfrm>
            <a:prstGeom prst="rect">
              <a:avLst/>
            </a:prstGeom>
            <a:solidFill>
              <a:srgbClr val="003E87"/>
            </a:solidFill>
            <a:ln w="28575" cap="flat" cmpd="sng" algn="ctr">
              <a:solidFill>
                <a:srgbClr val="003E87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3415169" y="3141125"/>
              <a:ext cx="2874645" cy="766163"/>
              <a:chOff x="1906687" y="1758739"/>
              <a:chExt cx="2874645" cy="766163"/>
            </a:xfrm>
          </p:grpSpPr>
          <p:sp>
            <p:nvSpPr>
              <p:cNvPr id="44" name="Rectangle 73"/>
              <p:cNvSpPr/>
              <p:nvPr>
                <p:custDataLst>
                  <p:tags r:id="rId3"/>
                </p:custDataLst>
              </p:nvPr>
            </p:nvSpPr>
            <p:spPr>
              <a:xfrm>
                <a:off x="1906687" y="1758739"/>
                <a:ext cx="2874645" cy="713740"/>
              </a:xfrm>
              <a:prstGeom prst="rect">
                <a:avLst/>
              </a:prstGeom>
            </p:spPr>
            <p:txBody>
              <a:bodyPr wrap="square" lIns="144000" tIns="0" rIns="14400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+mn-lt"/>
                  </a:rPr>
                  <a:t>选题背景与意义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45" name="Rectangle 73"/>
              <p:cNvSpPr/>
              <p:nvPr>
                <p:custDataLst>
                  <p:tags r:id="rId4"/>
                </p:custDataLst>
              </p:nvPr>
            </p:nvSpPr>
            <p:spPr>
              <a:xfrm>
                <a:off x="1950130" y="198889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100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sp>
          <p:nvSpPr>
            <p:cNvPr id="42" name="Rectangle 73"/>
            <p:cNvSpPr/>
            <p:nvPr>
              <p:custDataLst>
                <p:tags r:id="rId5"/>
              </p:custDataLst>
            </p:nvPr>
          </p:nvSpPr>
          <p:spPr>
            <a:xfrm>
              <a:off x="3415169" y="4221648"/>
              <a:ext cx="2996385" cy="305809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A5A5A5"/>
                  </a:solidFill>
                  <a:cs typeface="+mn-ea"/>
                  <a:sym typeface="+mn-lt"/>
                </a:rPr>
                <a:t>核心功能与实现</a:t>
              </a:r>
              <a:endParaRPr lang="zh-CN" altLang="en-US" sz="2800" b="1" dirty="0">
                <a:solidFill>
                  <a:srgbClr val="A5A5A5"/>
                </a:solidFill>
                <a:cs typeface="+mn-ea"/>
                <a:sym typeface="+mn-lt"/>
              </a:endParaRPr>
            </a:p>
          </p:txBody>
        </p:sp>
        <p:sp>
          <p:nvSpPr>
            <p:cNvPr id="40" name="Rectangle 73"/>
            <p:cNvSpPr/>
            <p:nvPr>
              <p:custDataLst>
                <p:tags r:id="rId6"/>
              </p:custDataLst>
            </p:nvPr>
          </p:nvSpPr>
          <p:spPr>
            <a:xfrm>
              <a:off x="3415166" y="5298360"/>
              <a:ext cx="2996385" cy="285977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4472C4"/>
                  </a:solidFill>
                  <a:cs typeface="+mn-ea"/>
                  <a:sym typeface="+mn-lt"/>
                </a:rPr>
                <a:t>关键算法</a:t>
              </a:r>
              <a:endParaRPr lang="zh-CN" altLang="en-US" sz="2800" b="1" dirty="0">
                <a:solidFill>
                  <a:srgbClr val="4472C4"/>
                </a:solidFill>
                <a:cs typeface="+mn-ea"/>
                <a:sym typeface="+mn-lt"/>
              </a:endParaRPr>
            </a:p>
          </p:txBody>
        </p:sp>
        <p:sp>
          <p:nvSpPr>
            <p:cNvPr id="38" name="Rectangle 73"/>
            <p:cNvSpPr/>
            <p:nvPr>
              <p:custDataLst>
                <p:tags r:id="rId7"/>
              </p:custDataLst>
            </p:nvPr>
          </p:nvSpPr>
          <p:spPr>
            <a:xfrm>
              <a:off x="7353519" y="3141125"/>
              <a:ext cx="2998313" cy="299229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ED7D31"/>
                  </a:solidFill>
                  <a:cs typeface="+mn-ea"/>
                  <a:sym typeface="+mn-lt"/>
                </a:rPr>
                <a:t>系统总体设计</a:t>
              </a:r>
              <a:endParaRPr lang="zh-CN" altLang="en-US" sz="2800" b="1" dirty="0">
                <a:solidFill>
                  <a:srgbClr val="ED7D31"/>
                </a:solidFill>
                <a:cs typeface="+mn-ea"/>
                <a:sym typeface="+mn-lt"/>
              </a:endParaRPr>
            </a:p>
          </p:txBody>
        </p:sp>
        <p:sp>
          <p:nvSpPr>
            <p:cNvPr id="36" name="Rectangle 73"/>
            <p:cNvSpPr/>
            <p:nvPr>
              <p:custDataLst>
                <p:tags r:id="rId8"/>
              </p:custDataLst>
            </p:nvPr>
          </p:nvSpPr>
          <p:spPr>
            <a:xfrm>
              <a:off x="7326852" y="4221648"/>
              <a:ext cx="2998314" cy="246221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FFC000"/>
                  </a:solidFill>
                  <a:cs typeface="+mn-ea"/>
                  <a:sym typeface="+mn-lt"/>
                </a:rPr>
                <a:t>系统演示</a:t>
              </a:r>
              <a:endParaRPr lang="zh-CN" altLang="en-US" sz="2800" b="1" dirty="0">
                <a:solidFill>
                  <a:srgbClr val="FFC000"/>
                </a:solidFill>
                <a:cs typeface="+mn-ea"/>
                <a:sym typeface="+mn-lt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9"/>
              </p:custDataLst>
            </p:nvPr>
          </p:nvSpPr>
          <p:spPr bwMode="auto">
            <a:xfrm>
              <a:off x="2731093" y="4106078"/>
              <a:ext cx="684076" cy="684076"/>
            </a:xfrm>
            <a:prstGeom prst="rect">
              <a:avLst/>
            </a:prstGeom>
            <a:solidFill>
              <a:schemeClr val="accent3"/>
            </a:solidFill>
            <a:ln w="28575" cap="flat" cmpd="sng" algn="ctr">
              <a:solidFill>
                <a:schemeClr val="accent3">
                  <a:lumMod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 bwMode="auto">
            <a:xfrm>
              <a:off x="2731093" y="5187736"/>
              <a:ext cx="684076" cy="684076"/>
            </a:xfrm>
            <a:prstGeom prst="rect">
              <a:avLst/>
            </a:prstGeom>
            <a:solidFill>
              <a:schemeClr val="accent5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11"/>
              </p:custDataLst>
            </p:nvPr>
          </p:nvSpPr>
          <p:spPr bwMode="auto">
            <a:xfrm>
              <a:off x="6642774" y="3024422"/>
              <a:ext cx="684076" cy="684076"/>
            </a:xfrm>
            <a:prstGeom prst="rect">
              <a:avLst/>
            </a:prstGeom>
            <a:solidFill>
              <a:srgbClr val="ED7D3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12"/>
              </p:custDataLst>
            </p:nvPr>
          </p:nvSpPr>
          <p:spPr bwMode="auto">
            <a:xfrm>
              <a:off x="6642774" y="4106078"/>
              <a:ext cx="684076" cy="684076"/>
            </a:xfrm>
            <a:prstGeom prst="rect">
              <a:avLst/>
            </a:prstGeom>
            <a:solidFill>
              <a:schemeClr val="accent4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11" b="34011"/>
          <a:stretch>
            <a:fillRect/>
          </a:stretch>
        </p:blipFill>
        <p:spPr>
          <a:xfrm>
            <a:off x="-24680" y="-24392"/>
            <a:ext cx="12272900" cy="2616444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0" y="2132856"/>
            <a:ext cx="2999656" cy="1008112"/>
            <a:chOff x="119336" y="1725785"/>
            <a:chExt cx="2982770" cy="952692"/>
          </a:xfrm>
        </p:grpSpPr>
        <p:grpSp>
          <p:nvGrpSpPr>
            <p:cNvPr id="48" name="组合 47"/>
            <p:cNvGrpSpPr/>
            <p:nvPr/>
          </p:nvGrpSpPr>
          <p:grpSpPr>
            <a:xfrm>
              <a:off x="119336" y="1797769"/>
              <a:ext cx="2982770" cy="880708"/>
              <a:chOff x="78885" y="1794976"/>
              <a:chExt cx="2833598" cy="621427"/>
            </a:xfrm>
          </p:grpSpPr>
          <p:sp>
            <p:nvSpPr>
              <p:cNvPr id="50" name="平行四边形 49"/>
              <p:cNvSpPr/>
              <p:nvPr/>
            </p:nvSpPr>
            <p:spPr bwMode="auto">
              <a:xfrm>
                <a:off x="181603" y="2044662"/>
                <a:ext cx="2730880" cy="360040"/>
              </a:xfrm>
              <a:prstGeom prst="parallelogram">
                <a:avLst>
                  <a:gd name="adj" fmla="val 76283"/>
                </a:avLst>
              </a:prstGeom>
              <a:solidFill>
                <a:srgbClr val="8C0807"/>
              </a:solidFill>
              <a:ln w="19050">
                <a:solidFill>
                  <a:srgbClr val="8C0807"/>
                </a:solidFill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 bwMode="auto">
              <a:xfrm>
                <a:off x="78885" y="1794976"/>
                <a:ext cx="2459596" cy="621427"/>
              </a:xfrm>
              <a:prstGeom prst="rect">
                <a:avLst/>
              </a:prstGeom>
              <a:solidFill>
                <a:srgbClr val="8C0807"/>
              </a:solidFill>
              <a:ln w="19050">
                <a:solidFill>
                  <a:srgbClr val="8C0807"/>
                </a:solidFill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151537" y="1725785"/>
              <a:ext cx="2414571" cy="7261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汇报提纲</a:t>
              </a:r>
              <a:endPara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73"/>
          <p:cNvSpPr/>
          <p:nvPr>
            <p:custDataLst>
              <p:tags r:id="rId14"/>
            </p:custDataLst>
          </p:nvPr>
        </p:nvSpPr>
        <p:spPr>
          <a:xfrm>
            <a:off x="7032151" y="5733122"/>
            <a:ext cx="2998314" cy="246221"/>
          </a:xfrm>
          <a:prstGeom prst="rect">
            <a:avLst/>
          </a:prstGeom>
        </p:spPr>
        <p:txBody>
          <a:bodyPr wrap="square" lIns="144000" tIns="0" rIns="144000" bIns="0">
            <a:no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FFC000"/>
                </a:solidFill>
                <a:cs typeface="+mn-ea"/>
                <a:sym typeface="+mn-lt"/>
              </a:rPr>
              <a:t>实验与测试</a:t>
            </a:r>
            <a:endParaRPr lang="zh-CN" altLang="en-US" sz="2800" b="1" dirty="0">
              <a:solidFill>
                <a:srgbClr val="FFC000"/>
              </a:solidFill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>
            <p:custDataLst>
              <p:tags r:id="rId15"/>
            </p:custDataLst>
          </p:nvPr>
        </p:nvSpPr>
        <p:spPr bwMode="auto">
          <a:xfrm>
            <a:off x="6354423" y="5564847"/>
            <a:ext cx="684076" cy="684076"/>
          </a:xfrm>
          <a:prstGeom prst="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rPr>
              <a:t>6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Impact" panose="020B0806030902050204" pitchFamily="34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0" y="6452604"/>
            <a:ext cx="338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625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2981960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选题背景与意义</a:t>
              </a:r>
              <a:endParaRPr lang="zh-CN" altLang="en-US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Oval 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31063" y="3893717"/>
            <a:ext cx="723995" cy="7239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 dirty="0">
              <a:latin typeface="Avant GardeBook" pitchFamily="50" charset="0"/>
            </a:endParaRPr>
          </a:p>
        </p:txBody>
      </p:sp>
      <p:sp>
        <p:nvSpPr>
          <p:cNvPr id="19" name="Oval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24401" y="5013222"/>
            <a:ext cx="719232" cy="723900"/>
          </a:xfrm>
          <a:prstGeom prst="ellipse">
            <a:avLst/>
          </a:prstGeom>
          <a:solidFill>
            <a:srgbClr val="C52A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 dirty="0">
              <a:latin typeface="Avant GardeBook" pitchFamily="50" charset="0"/>
            </a:endParaRPr>
          </a:p>
        </p:txBody>
      </p:sp>
      <p:sp>
        <p:nvSpPr>
          <p:cNvPr id="20" name="Oval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31063" y="5063705"/>
            <a:ext cx="723995" cy="7239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 dirty="0">
              <a:latin typeface="Avant GardeBook" pitchFamily="50" charset="0"/>
            </a:endParaRPr>
          </a:p>
        </p:txBody>
      </p:sp>
      <p:sp>
        <p:nvSpPr>
          <p:cNvPr id="22" name="TextBox 42"/>
          <p:cNvSpPr txBox="1"/>
          <p:nvPr>
            <p:custDataLst>
              <p:tags r:id="rId4"/>
            </p:custDataLst>
          </p:nvPr>
        </p:nvSpPr>
        <p:spPr>
          <a:xfrm>
            <a:off x="1875665" y="3893716"/>
            <a:ext cx="2961452" cy="339090"/>
          </a:xfrm>
          <a:prstGeom prst="rect">
            <a:avLst/>
          </a:prstGeom>
          <a:noFill/>
        </p:spPr>
        <p:txBody>
          <a:bodyPr wrap="square" lIns="91440" tIns="0" rIns="9144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背景问题</a:t>
            </a:r>
            <a:endParaRPr lang="zh-CN" altLang="en-US" sz="1465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黑体" pitchFamily="2" charset="-122"/>
            </a:endParaRPr>
          </a:p>
        </p:txBody>
      </p:sp>
      <p:sp>
        <p:nvSpPr>
          <p:cNvPr id="23" name="TextBox 43"/>
          <p:cNvSpPr txBox="1"/>
          <p:nvPr>
            <p:custDataLst>
              <p:tags r:id="rId5"/>
            </p:custDataLst>
          </p:nvPr>
        </p:nvSpPr>
        <p:spPr>
          <a:xfrm>
            <a:off x="1875665" y="4189149"/>
            <a:ext cx="3743969" cy="3048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传统课堂观察依赖教师人工判断，效率低</a:t>
            </a:r>
            <a:endParaRPr lang="zh-CN" altLang="en-US" sz="1065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44"/>
          <p:cNvSpPr txBox="1"/>
          <p:nvPr>
            <p:custDataLst>
              <p:tags r:id="rId6"/>
            </p:custDataLst>
          </p:nvPr>
        </p:nvSpPr>
        <p:spPr>
          <a:xfrm>
            <a:off x="1875665" y="5056719"/>
            <a:ext cx="2961452" cy="339090"/>
          </a:xfrm>
          <a:prstGeom prst="rect">
            <a:avLst/>
          </a:prstGeom>
          <a:noFill/>
        </p:spPr>
        <p:txBody>
          <a:bodyPr wrap="square" lIns="91440" tIns="0" rIns="9144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研究意义</a:t>
            </a:r>
            <a:endParaRPr lang="zh-CN" altLang="en-US" sz="1465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黑体" pitchFamily="2" charset="-122"/>
            </a:endParaRPr>
          </a:p>
        </p:txBody>
      </p:sp>
      <p:sp>
        <p:nvSpPr>
          <p:cNvPr id="25" name="TextBox 45"/>
          <p:cNvSpPr txBox="1"/>
          <p:nvPr>
            <p:custDataLst>
              <p:tags r:id="rId7"/>
            </p:custDataLst>
          </p:nvPr>
        </p:nvSpPr>
        <p:spPr>
          <a:xfrm>
            <a:off x="1875665" y="5352150"/>
            <a:ext cx="3743969" cy="3048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将检测模型从单图原型扩展为完整</a:t>
            </a:r>
            <a:r>
              <a: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zh-CN" altLang="en-US" sz="1065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46"/>
          <p:cNvSpPr txBox="1"/>
          <p:nvPr>
            <p:custDataLst>
              <p:tags r:id="rId8"/>
            </p:custDataLst>
          </p:nvPr>
        </p:nvSpPr>
        <p:spPr>
          <a:xfrm>
            <a:off x="6891101" y="5013221"/>
            <a:ext cx="2961452" cy="339090"/>
          </a:xfrm>
          <a:prstGeom prst="rect">
            <a:avLst/>
          </a:prstGeom>
          <a:noFill/>
        </p:spPr>
        <p:txBody>
          <a:bodyPr wrap="square" lIns="91440" tIns="0" rIns="9144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发展趋势</a:t>
            </a:r>
            <a:endParaRPr lang="zh-CN" altLang="en-US" sz="1465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黑体" pitchFamily="2" charset="-122"/>
            </a:endParaRPr>
          </a:p>
        </p:txBody>
      </p:sp>
      <p:sp>
        <p:nvSpPr>
          <p:cNvPr id="27" name="TextBox 47"/>
          <p:cNvSpPr txBox="1"/>
          <p:nvPr>
            <p:custDataLst>
              <p:tags r:id="rId9"/>
            </p:custDataLst>
          </p:nvPr>
        </p:nvSpPr>
        <p:spPr>
          <a:xfrm>
            <a:off x="6891102" y="5308652"/>
            <a:ext cx="3743969" cy="3048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智慧教育</a:t>
            </a:r>
            <a:r>
              <a: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+AI</a:t>
            </a:r>
            <a:r>
              <a:rPr lang="zh-CN" altLang="en-US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辅助教学，</a:t>
            </a:r>
            <a:r>
              <a: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</a:t>
            </a:r>
            <a:r>
              <a:rPr lang="zh-CN" altLang="en-US" sz="106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提供技术基础</a:t>
            </a:r>
            <a:endParaRPr lang="zh-CN" altLang="en-US" sz="1065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1196975"/>
            <a:ext cx="5419090" cy="3049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2575560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系统总体架构</a:t>
              </a:r>
              <a:endParaRPr lang="zh-CN" altLang="en-US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0590887" y="5301208"/>
            <a:ext cx="1152278" cy="1008112"/>
            <a:chOff x="10590887" y="5019961"/>
            <a:chExt cx="1152278" cy="1008112"/>
          </a:xfrm>
        </p:grpSpPr>
        <p:sp>
          <p:nvSpPr>
            <p:cNvPr id="36" name="矩形 35"/>
            <p:cNvSpPr/>
            <p:nvPr/>
          </p:nvSpPr>
          <p:spPr>
            <a:xfrm>
              <a:off x="10878957" y="5019961"/>
              <a:ext cx="864208" cy="864096"/>
            </a:xfrm>
            <a:prstGeom prst="rect">
              <a:avLst/>
            </a:prstGeom>
            <a:solidFill>
              <a:srgbClr val="95373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0590887" y="5452009"/>
              <a:ext cx="576139" cy="576064"/>
            </a:xfrm>
            <a:prstGeom prst="rect">
              <a:avLst/>
            </a:prstGeom>
            <a:solidFill>
              <a:srgbClr val="D9969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400"/>
              <a:endParaRPr lang="zh-CN" altLang="en-US" sz="2800">
                <a:solidFill>
                  <a:prstClr val="white"/>
                </a:solidFill>
                <a:latin typeface="AvantGarde Md BT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pic>
        <p:nvPicPr>
          <p:cNvPr id="5" name="图片 4" descr="200bc8c0-55f8-4730-8d21-684c5ab6234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955" y="953770"/>
            <a:ext cx="8709660" cy="5807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27305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2575560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3200" b="1" dirty="0">
                  <a:solidFill>
                    <a:srgbClr val="7509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核心功能概览</a:t>
              </a:r>
              <a:endParaRPr lang="zh-CN" altLang="en-US" sz="3200" b="1" dirty="0">
                <a:solidFill>
                  <a:srgbClr val="7509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" y="1473835"/>
            <a:ext cx="3120390" cy="16275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770" y="1473835"/>
            <a:ext cx="2957830" cy="1533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1472565"/>
            <a:ext cx="2656840" cy="16002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4440" y="1484630"/>
            <a:ext cx="3359785" cy="15252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53390" y="3760470"/>
            <a:ext cx="11039475" cy="2289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系统围绕课堂行为监测构建了四大核心模块：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系统仪表盘提供用户认证、角色权限管理和运行状态总览；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实时监控通过双线程流水线接入摄像头，实现YOLO逐帧推理与行为标注；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离线分析支持上传课堂视频，后台自动逐帧分析并生成包含风险等级和行为统计的完整报告；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历史回放支持查看历史分析记录与报告，按时间线回溯课堂行为事件，便于教师课后复盘与教学反思。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四大模块协同工作，覆盖从数据采集到报告输出的完整课堂行为监测流程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4069715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核心功能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—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实时监控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509588" y="1784630"/>
            <a:ext cx="5545137" cy="3660593"/>
          </a:xfrm>
          <a:prstGeom prst="rect">
            <a:avLst/>
          </a:prstGeom>
          <a:solidFill>
            <a:srgbClr val="8C080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5399" y="1841181"/>
            <a:ext cx="5021189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双线程流水线架构：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•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采集线程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+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推理线程分离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•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可配置推理间隔与图像尺寸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实时行为检测：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•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低头、举手、睡觉、转头交谈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•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自动专注度评分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降级机制：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•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摄像头不可用时自动切换占位帧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pic>
        <p:nvPicPr>
          <p:cNvPr id="5" name="图片 4" descr="ChatGPT Image 2026年5月20日 22_47_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17065"/>
            <a:ext cx="5819140" cy="3193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965811" cy="682262"/>
            <a:chOff x="299356" y="260648"/>
            <a:chExt cx="6965811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6101715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核心功能</a:t>
              </a:r>
              <a:r>
                <a:rPr lang="en-US" altLang="zh-CN" sz="3200" b="1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— 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离线视频分析与报告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509588" y="1784630"/>
            <a:ext cx="5545137" cy="3660593"/>
          </a:xfrm>
          <a:prstGeom prst="rect">
            <a:avLst/>
          </a:prstGeom>
          <a:solidFill>
            <a:srgbClr val="8C080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054725" y="1784630"/>
            <a:ext cx="5545138" cy="3660593"/>
          </a:xfrm>
          <a:prstGeom prst="rect">
            <a:avLst/>
          </a:prstGeom>
          <a:noFill/>
          <a:ln w="28575" cap="flat" cmpd="sng" algn="ctr">
            <a:solidFill>
              <a:srgbClr val="8C0807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11272838" y="1772816"/>
            <a:ext cx="338137" cy="338137"/>
          </a:xfrm>
          <a:prstGeom prst="rect">
            <a:avLst/>
          </a:prstGeom>
          <a:solidFill>
            <a:srgbClr val="8C0807"/>
          </a:solidFill>
          <a:ln w="12700" cap="flat" cmpd="sng" algn="ctr">
            <a:solidFill>
              <a:srgbClr val="8C0807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11272838" y="5108674"/>
            <a:ext cx="338137" cy="336550"/>
          </a:xfrm>
          <a:prstGeom prst="rect">
            <a:avLst/>
          </a:prstGeom>
          <a:solidFill>
            <a:srgbClr val="8C0807"/>
          </a:solidFill>
          <a:ln w="12700" cap="flat" cmpd="sng" algn="ctr">
            <a:solidFill>
              <a:srgbClr val="8C0807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95399" y="1841181"/>
            <a:ext cx="5021189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上传分析流程：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文件验证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任务创建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后台执行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逐帧推理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行为映射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报告生成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三种执行后端：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线程池（默认）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适合单机部署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进程池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—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适合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密集场景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文件队列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—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适合分布式部署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240015" y="1851789"/>
            <a:ext cx="5021711" cy="299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自动分析报告包含：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8C080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风险等级（高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8C080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专注度评分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8C080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行为统计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8C080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教师评语与建议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8C080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关键截图证据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8C080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C080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规则快照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8C080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1762760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系统演示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11272838" y="1772816"/>
            <a:ext cx="338137" cy="338137"/>
          </a:xfrm>
          <a:prstGeom prst="rect">
            <a:avLst/>
          </a:prstGeom>
          <a:solidFill>
            <a:srgbClr val="8C0807"/>
          </a:solidFill>
          <a:ln w="12700" cap="flat" cmpd="sng" algn="ctr">
            <a:solidFill>
              <a:srgbClr val="8C0807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11272838" y="5108674"/>
            <a:ext cx="338137" cy="336550"/>
          </a:xfrm>
          <a:prstGeom prst="rect">
            <a:avLst/>
          </a:prstGeom>
          <a:solidFill>
            <a:srgbClr val="8C0807"/>
          </a:solidFill>
          <a:ln w="12700" cap="flat" cmpd="sng" algn="ctr">
            <a:solidFill>
              <a:srgbClr val="8C0807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625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965811" cy="682262"/>
            <a:chOff x="299356" y="260648"/>
            <a:chExt cx="6965811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6101715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关键算法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—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行为映射与时序分析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4" name="内容占位符 2"/>
          <p:cNvSpPr txBox="1"/>
          <p:nvPr/>
        </p:nvSpPr>
        <p:spPr>
          <a:xfrm>
            <a:off x="2927985" y="1351915"/>
            <a:ext cx="3373755" cy="52197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30+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变体映射统一为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6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种行为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0"/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5" name="内容占位符 1"/>
          <p:cNvSpPr txBox="1"/>
          <p:nvPr/>
        </p:nvSpPr>
        <p:spPr>
          <a:xfrm>
            <a:off x="439420" y="1427480"/>
            <a:ext cx="272288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检测标签标准化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2847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4439920" y="1988820"/>
            <a:ext cx="4432935" cy="52197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将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YOLO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类别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ID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映射为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6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种课堂行为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内容占位符 1"/>
          <p:cNvSpPr txBox="1"/>
          <p:nvPr/>
        </p:nvSpPr>
        <p:spPr>
          <a:xfrm>
            <a:off x="439420" y="2060575"/>
            <a:ext cx="385445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CLASS_BEHAVIOR_MAP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6423660" y="2510790"/>
            <a:ext cx="5735955" cy="52197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连续帧判断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→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稳定状态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→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持续时长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→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报警触发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" name="内容占位符 1"/>
          <p:cNvSpPr txBox="1"/>
          <p:nvPr/>
        </p:nvSpPr>
        <p:spPr>
          <a:xfrm>
            <a:off x="407035" y="2564765"/>
            <a:ext cx="623316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时序分析器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BehaviorTemporalAnalyzer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内容占位符 2"/>
          <p:cNvSpPr txBox="1"/>
          <p:nvPr/>
        </p:nvSpPr>
        <p:spPr>
          <a:xfrm>
            <a:off x="2602865" y="3230880"/>
            <a:ext cx="6986270" cy="210820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low_head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（低头）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| phone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（玩手机）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| hand_raise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（举手）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0"/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sleep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（睡觉）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| turn_talk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（转头交谈）</a:t>
            </a:r>
            <a:r>
              <a:rPr lang="en-US" altLang="zh-CN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| head_up</a:t>
            </a:r>
            <a:r>
              <a:rPr lang="zh-CN" altLang="en-US" dirty="0">
                <a:solidFill>
                  <a:srgbClr val="0C0C0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（抬头）</a:t>
            </a:r>
            <a:endParaRPr lang="zh-CN" altLang="en-US" dirty="0">
              <a:solidFill>
                <a:srgbClr val="0C0C0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1" name="内容占位符 1"/>
          <p:cNvSpPr txBox="1"/>
          <p:nvPr/>
        </p:nvSpPr>
        <p:spPr>
          <a:xfrm>
            <a:off x="335280" y="3284855"/>
            <a:ext cx="21717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六种检测行为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5090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675" y="4293235"/>
            <a:ext cx="6981190" cy="2377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625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7372211" cy="682262"/>
            <a:chOff x="299356" y="260648"/>
            <a:chExt cx="7372211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6508115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关键算法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—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专注度评分与报告生成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内容占位符 2"/>
          <p:cNvSpPr txBox="1"/>
          <p:nvPr/>
        </p:nvSpPr>
        <p:spPr>
          <a:xfrm>
            <a:off x="1582420" y="1351915"/>
            <a:ext cx="4719320" cy="443928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专注度评分公式：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0"/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Score = 100 -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低头</a:t>
            </a:r>
            <a:r>
              <a:rPr lang="en-US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×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12 -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玩手机</a:t>
            </a:r>
            <a:r>
              <a:rPr lang="en-US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×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18 -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睡觉</a:t>
            </a:r>
            <a:r>
              <a:rPr lang="en-US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×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20 -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转头交谈</a:t>
            </a:r>
            <a:r>
              <a:rPr lang="en-US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×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15 +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举手</a:t>
            </a:r>
            <a:r>
              <a:rPr lang="en-US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×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0"/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评分等级：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457200" lvl="0" indent="-457200">
              <a:buAutoNum type="arabicPeriod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高专注度：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≥ 80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457200" lvl="0" indent="-457200">
              <a:buAutoNum type="arabicPeriod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中专注度：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60-79  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457200" lvl="0" indent="-457200">
              <a:buAutoNum type="arabicPeriod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低专注度：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&lt; 60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2847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sp>
        <p:nvSpPr>
          <p:cNvPr id="13" name="内容占位符 2"/>
          <p:cNvSpPr txBox="1"/>
          <p:nvPr/>
        </p:nvSpPr>
        <p:spPr>
          <a:xfrm>
            <a:off x="6456045" y="1377315"/>
            <a:ext cx="4719320" cy="443928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自动报告生成：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457200" lvl="0" indent="-457200">
              <a:buAutoNum type="arabicPeriod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风险结论：基于行为模式和持续时长自动判定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457200" lvl="0" indent="-457200">
              <a:buAutoNum type="arabicPeriod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教师评语：根据行为模式自动生成教学建议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457200" lvl="0" indent="-457200">
              <a:buAutoNum type="arabicPeriod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证据收集：关键截图 + 时间线 + 规则快照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30" y="3860800"/>
            <a:ext cx="8206105" cy="2596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4131" y="0"/>
            <a:ext cx="12192001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4882515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实验结果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—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行为识别效果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7995" y="1487170"/>
            <a:ext cx="5074285" cy="2506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实验方式：多段课堂视频人工标注对照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识别指标：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低头：    P=0.87  R=0.84  F1=0.85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睡觉：    P=0.92  R=0.88  F1=0.90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举手：    P=0.89  R=0.91  F1=0.90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转头交谈：P=0.83  R=0.80  F1=0.81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模型配置：默认置信度阈值 0.35，连续帧阈值 4-6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75" y="980440"/>
            <a:ext cx="6090285" cy="3781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4131" y="0"/>
            <a:ext cx="12192001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5288915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实验结果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—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性能与参数对比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7995" y="1487170"/>
            <a:ext cx="5074285" cy="2506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系统性能：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实时视频处理：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10-12 FPS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离线视频分析：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0.4-0.8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倍视频时长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报告生成：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&lt; 2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秒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参数配置对比：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敏感档：连续帧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，置信度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0.25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，告警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3s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默认档：连续帧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4-6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，置信度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0.35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，告警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5s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稳定档：连续帧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7-8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，置信度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0.45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，告警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8s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功能测试：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项全部通过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10" y="1487170"/>
            <a:ext cx="6175375" cy="2663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4131" y="0"/>
            <a:ext cx="12192001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5288915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实验结果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—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性能与参数对比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7995" y="1487170"/>
            <a:ext cx="5074285" cy="2506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系统性能：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实时视频处理：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10-12 FPS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离线视频分析：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0.4-0.8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倍视频时长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报告生成：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&lt; 2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秒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参数配置对比：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敏感档：连续帧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，置信度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0.25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，告警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3s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默认档：连续帧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4-6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，置信度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0.35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，告警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5s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稳定档：连续帧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7-8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，置信度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0.45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，告警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8s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功能测试：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项全部通过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10" y="1487170"/>
            <a:ext cx="6175375" cy="2663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4131" y="0"/>
            <a:ext cx="12192001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2654300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总结与展望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  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5361" y="6452604"/>
            <a:ext cx="31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6131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dirty="0">
              <a:solidFill>
                <a:srgbClr val="96131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74040"/>
            <a:ext cx="2747057" cy="5906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7995" y="1487170"/>
            <a:ext cx="6835140" cy="2506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主要成果：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                                                                                             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YOLO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原型扩展为完整的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Web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行为监测分析系统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                                                         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设计了检测</a:t>
            </a:r>
            <a:r>
              <a:rPr lang="en-US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→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行为映射</a:t>
            </a:r>
            <a:r>
              <a:rPr lang="en-US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→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时序分析</a:t>
            </a:r>
            <a:r>
              <a:rPr lang="en-US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→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报警</a:t>
            </a:r>
            <a:r>
              <a:rPr lang="en-US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→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报告的完整流水线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                                                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实现了可配置规则引擎，支持管理员在线调参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                                                          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提供了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Docker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一键部署方案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                                                                          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                                                                                                             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不足与展望：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                                                                                           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识别依赖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best.onnx</a:t>
            </a: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模型质量，可进一步优化训练数据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                                                   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暂未实现学生个体追踪</a:t>
            </a:r>
            <a:r>
              <a:rPr lang="en-US" altLang="zh-CN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                                                                                </a:t>
            </a:r>
            <a:endParaRPr lang="en-US" altLang="zh-CN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C0C0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光照和角度对识别精度有影响</a:t>
            </a:r>
            <a:endParaRPr lang="zh-CN" altLang="en-US" sz="1600" dirty="0">
              <a:solidFill>
                <a:srgbClr val="0C0C0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7" name="图片 6" descr="3093e6a4-b27c-4a4d-bafe-f1d4965fc0b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435" y="1449070"/>
            <a:ext cx="5375275" cy="2544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8606"/>
            <a:ext cx="12192000" cy="6858000"/>
          </a:xfrm>
          <a:prstGeom prst="rect">
            <a:avLst/>
          </a:prstGeom>
          <a:solidFill>
            <a:srgbClr val="7D1B1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52" y="605206"/>
            <a:ext cx="5472608" cy="627233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199456" y="2852936"/>
            <a:ext cx="5256584" cy="1899301"/>
            <a:chOff x="2135560" y="1748871"/>
            <a:chExt cx="5256584" cy="1899301"/>
          </a:xfrm>
        </p:grpSpPr>
        <p:sp>
          <p:nvSpPr>
            <p:cNvPr id="12" name="文本框 11"/>
            <p:cNvSpPr txBox="1"/>
            <p:nvPr/>
          </p:nvSpPr>
          <p:spPr>
            <a:xfrm flipH="1">
              <a:off x="2135560" y="1748871"/>
              <a:ext cx="525658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欢迎提问</a:t>
              </a:r>
              <a:endParaRPr kumimoji="0" lang="zh-CN" altLang="en-US" sz="80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2279576" y="3102783"/>
              <a:ext cx="4176464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2135560" y="3278840"/>
              <a:ext cx="4176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Welcoming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for communication.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364026" y="5375285"/>
            <a:ext cx="21602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</a:t>
            </a:r>
            <a:endParaRPr lang="en-US" altLang="zh-CN" sz="32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zh-CN" altLang="en-US" sz="320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开物成务</a:t>
            </a:r>
            <a:endParaRPr lang="zh-CN" altLang="en-US" sz="32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56" r="-1666"/>
          <a:stretch>
            <a:fillRect/>
          </a:stretch>
        </p:blipFill>
        <p:spPr>
          <a:xfrm>
            <a:off x="286574" y="819273"/>
            <a:ext cx="5151793" cy="10773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D1B1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407492" y="3213365"/>
            <a:ext cx="11568608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400" b="1" i="1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谢谢各位老师！请批评指正！</a:t>
            </a:r>
            <a:endParaRPr kumimoji="0" lang="zh-CN" altLang="en-US" sz="5400" b="1" i="1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619185" y="4500571"/>
            <a:ext cx="8659688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20" name="矩形 19"/>
          <p:cNvSpPr/>
          <p:nvPr/>
        </p:nvSpPr>
        <p:spPr>
          <a:xfrm>
            <a:off x="1619184" y="4705399"/>
            <a:ext cx="86596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THANKS FOR YOUR LISTENING!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3391" y="6287540"/>
            <a:ext cx="4241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厚积薄发，开物成务</a:t>
            </a:r>
            <a:endParaRPr lang="zh-CN" altLang="en-US" sz="24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 contrast="10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56" r="-1666"/>
          <a:stretch>
            <a:fillRect/>
          </a:stretch>
        </p:blipFill>
        <p:spPr>
          <a:xfrm>
            <a:off x="2384367" y="811142"/>
            <a:ext cx="7423253" cy="1552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2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3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4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5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6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7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8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9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10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11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12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13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14.xml><?xml version="1.0" encoding="utf-8"?>
<p:tagLst xmlns:p="http://schemas.openxmlformats.org/presentationml/2006/main">
  <p:tag name="KSO_WM_DIAGRAM_VIRTUALLY_FRAME" val="{&quot;height&quot;:244.66960629921255,&quot;left&quot;:190.1999212598425,&quot;top&quot;:265.58228346456696,&quot;width&quot;:665.8066141732284}"/>
</p:tagLst>
</file>

<file path=ppt/tags/tag15.xml><?xml version="1.0" encoding="utf-8"?>
<p:tagLst xmlns:p="http://schemas.openxmlformats.org/presentationml/2006/main">
  <p:tag name="KSO_WM_DIAGRAM_VIRTUALLY_FRAME" val="{&quot;height&quot;:155.72275590551175,&quot;left&quot;:81.18606299212598,&quot;top&quot;:306.59181102362203,&quot;width&quot;:756.7211023622048}"/>
</p:tagLst>
</file>

<file path=ppt/tags/tag16.xml><?xml version="1.0" encoding="utf-8"?>
<p:tagLst xmlns:p="http://schemas.openxmlformats.org/presentationml/2006/main">
  <p:tag name="KSO_WM_DIAGRAM_VIRTUALLY_FRAME" val="{&quot;height&quot;:155.72275590551175,&quot;left&quot;:81.18606299212598,&quot;top&quot;:306.59181102362203,&quot;width&quot;:756.7211023622048}"/>
</p:tagLst>
</file>

<file path=ppt/tags/tag17.xml><?xml version="1.0" encoding="utf-8"?>
<p:tagLst xmlns:p="http://schemas.openxmlformats.org/presentationml/2006/main">
  <p:tag name="KSO_WM_DIAGRAM_VIRTUALLY_FRAME" val="{&quot;height&quot;:155.72275590551175,&quot;left&quot;:81.18606299212598,&quot;top&quot;:306.59181102362203,&quot;width&quot;:756.7211023622048}"/>
</p:tagLst>
</file>

<file path=ppt/tags/tag18.xml><?xml version="1.0" encoding="utf-8"?>
<p:tagLst xmlns:p="http://schemas.openxmlformats.org/presentationml/2006/main">
  <p:tag name="KSO_WM_DIAGRAM_VIRTUALLY_FRAME" val="{&quot;height&quot;:155.72275590551175,&quot;left&quot;:81.18606299212598,&quot;top&quot;:306.59181102362203,&quot;width&quot;:756.7211023622048}"/>
</p:tagLst>
</file>

<file path=ppt/tags/tag19.xml><?xml version="1.0" encoding="utf-8"?>
<p:tagLst xmlns:p="http://schemas.openxmlformats.org/presentationml/2006/main">
  <p:tag name="KSO_WM_DIAGRAM_VIRTUALLY_FRAME" val="{&quot;height&quot;:155.72275590551175,&quot;left&quot;:81.18606299212598,&quot;top&quot;:306.59181102362203,&quot;width&quot;:756.7211023622048}"/>
</p:tagLst>
</file>

<file path=ppt/tags/tag20.xml><?xml version="1.0" encoding="utf-8"?>
<p:tagLst xmlns:p="http://schemas.openxmlformats.org/presentationml/2006/main">
  <p:tag name="KSO_WM_DIAGRAM_VIRTUALLY_FRAME" val="{&quot;height&quot;:155.72275590551175,&quot;left&quot;:81.18606299212598,&quot;top&quot;:306.59181102362203,&quot;width&quot;:756.7211023622048}"/>
</p:tagLst>
</file>

<file path=ppt/tags/tag21.xml><?xml version="1.0" encoding="utf-8"?>
<p:tagLst xmlns:p="http://schemas.openxmlformats.org/presentationml/2006/main">
  <p:tag name="KSO_WM_DIAGRAM_VIRTUALLY_FRAME" val="{&quot;height&quot;:155.72275590551175,&quot;left&quot;:81.18606299212598,&quot;top&quot;:306.59181102362203,&quot;width&quot;:756.7211023622048}"/>
</p:tagLst>
</file>

<file path=ppt/tags/tag22.xml><?xml version="1.0" encoding="utf-8"?>
<p:tagLst xmlns:p="http://schemas.openxmlformats.org/presentationml/2006/main">
  <p:tag name="KSO_WM_DIAGRAM_VIRTUALLY_FRAME" val="{&quot;height&quot;:155.72275590551175,&quot;left&quot;:81.18606299212598,&quot;top&quot;:306.59181102362203,&quot;width&quot;:756.7211023622048}"/>
</p:tagLst>
</file>

<file path=ppt/tags/tag23.xml><?xml version="1.0" encoding="utf-8"?>
<p:tagLst xmlns:p="http://schemas.openxmlformats.org/presentationml/2006/main">
  <p:tag name="KSO_WM_DIAGRAM_VIRTUALLY_FRAME" val="{&quot;height&quot;:155.72275590551175,&quot;left&quot;:81.18606299212598,&quot;top&quot;:306.59181102362203,&quot;width&quot;:756.7211023622048}"/>
</p:tagLst>
</file>

<file path=ppt/tags/tag24.xml><?xml version="1.0" encoding="utf-8"?>
<p:tagLst xmlns:p="http://schemas.openxmlformats.org/presentationml/2006/main">
  <p:tag name="KSO_WM_DIAGRAM_VIRTUALLY_FRAME" val="{&quot;height&quot;:339.7330708661417,&quot;left&quot;:40.12503937007874,&quot;top&quot;:139.59181102362203,&quot;width&quot;:874.1249606299212}"/>
</p:tagLst>
</file>

<file path=ppt/tags/tag25.xml><?xml version="1.0" encoding="utf-8"?>
<p:tagLst xmlns:p="http://schemas.openxmlformats.org/presentationml/2006/main">
  <p:tag name="KSO_WM_DIAGRAM_VIRTUALLY_FRAME" val="{&quot;height&quot;:339.7330708661417,&quot;left&quot;:40.12503937007874,&quot;top&quot;:139.59181102362203,&quot;width&quot;:874.1249606299212}"/>
</p:tagLst>
</file>

<file path=ppt/tags/tag26.xml><?xml version="1.0" encoding="utf-8"?>
<p:tagLst xmlns:p="http://schemas.openxmlformats.org/presentationml/2006/main">
  <p:tag name="KSO_WM_DIAGRAM_VIRTUALLY_FRAME" val="{&quot;height&quot;:289.1659842519685,&quot;left&quot;:40.12503937007874,&quot;top&quot;:139.59181102362203,&quot;width&quot;:874.1249606299212}"/>
</p:tagLst>
</file>

<file path=ppt/tags/tag27.xml><?xml version="1.0" encoding="utf-8"?>
<p:tagLst xmlns:p="http://schemas.openxmlformats.org/presentationml/2006/main">
  <p:tag name="KSO_WM_DIAGRAM_VIRTUALLY_FRAME" val="{&quot;height&quot;:289.1659842519685,&quot;left&quot;:40.12503937007874,&quot;top&quot;:139.59181102362203,&quot;width&quot;:874.1249606299212}"/>
</p:tagLst>
</file>

<file path=ppt/tags/tag28.xml><?xml version="1.0" encoding="utf-8"?>
<p:tagLst xmlns:p="http://schemas.openxmlformats.org/presentationml/2006/main">
  <p:tag name="KSO_WM_DIAGRAM_VIRTUALLY_FRAME" val="{&quot;height&quot;:289.1659842519685,&quot;left&quot;:40.12503937007874,&quot;top&quot;:139.59181102362203,&quot;width&quot;:874.1249606299212}"/>
</p:tagLst>
</file>

<file path=ppt/tags/tag29.xml><?xml version="1.0" encoding="utf-8"?>
<p:tagLst xmlns:p="http://schemas.openxmlformats.org/presentationml/2006/main">
  <p:tag name="KSO_WM_DIAGRAM_VIRTUALLY_FRAME" val="{&quot;height&quot;:289.1659842519685,&quot;left&quot;:40.12503937007874,&quot;top&quot;:139.59181102362203,&quot;width&quot;:874.1249606299212}"/>
</p:tagLst>
</file>

<file path=ppt/tags/tag30.xml><?xml version="1.0" encoding="utf-8"?>
<p:tagLst xmlns:p="http://schemas.openxmlformats.org/presentationml/2006/main">
  <p:tag name="KSO_WM_DIAGRAM_VIRTUALLY_FRAME" val="{&quot;height&quot;:289.1659842519685,&quot;left&quot;:40.12503937007874,&quot;top&quot;:139.59181102362203,&quot;width&quot;:874.1249606299212}"/>
</p:tagLst>
</file>

<file path=ppt/tags/tag31.xml><?xml version="1.0" encoding="utf-8"?>
<p:tagLst xmlns:p="http://schemas.openxmlformats.org/presentationml/2006/main">
  <p:tag name="KSO_WM_DIAGRAM_VIRTUALLY_FRAME" val="{&quot;height&quot;:289.1659842519685,&quot;left&quot;:40.12503937007874,&quot;top&quot;:139.59181102362203,&quot;width&quot;:874.1249606299212}"/>
</p:tagLst>
</file>

<file path=ppt/tags/tag32.xml><?xml version="1.0" encoding="utf-8"?>
<p:tagLst xmlns:p="http://schemas.openxmlformats.org/presentationml/2006/main">
  <p:tag name="KSO_WM_DIAGRAM_VIRTUALLY_FRAME" val="{&quot;height&quot;:289.1659842519685,&quot;left&quot;:40.12503937007874,&quot;top&quot;:139.59181102362203,&quot;width&quot;:874.1249606299212}"/>
</p:tagLst>
</file>

<file path=ppt/tags/tag33.xml><?xml version="1.0" encoding="utf-8"?>
<p:tagLst xmlns:p="http://schemas.openxmlformats.org/presentationml/2006/main">
  <p:tag name="KSO_WM_DIAGRAM_VIRTUALLY_FRAME" val="{&quot;height&quot;:289.1659842519685,&quot;left&quot;:40.12503937007874,&quot;top&quot;:139.59181102362203,&quot;width&quot;:874.1249606299212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3071</Words>
  <Application>WPS 演示</Application>
  <PresentationFormat>宽屏</PresentationFormat>
  <Paragraphs>240</Paragraphs>
  <Slides>16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黑体</vt:lpstr>
      <vt:lpstr>华文行楷</vt:lpstr>
      <vt:lpstr>Impact</vt:lpstr>
      <vt:lpstr>Calibri</vt:lpstr>
      <vt:lpstr>Times New Roman</vt:lpstr>
      <vt:lpstr>AvantGarde Md BT</vt:lpstr>
      <vt:lpstr>Segoe Print</vt:lpstr>
      <vt:lpstr>Avant GardeBook</vt:lpstr>
      <vt:lpstr>华文黑体</vt:lpstr>
      <vt:lpstr>Arial Unicode MS</vt:lpstr>
      <vt:lpstr>等线</vt:lpstr>
      <vt:lpstr>Arial</vt:lpstr>
      <vt:lpstr>Calibri Light</vt:lpstr>
      <vt:lpstr>Aller Light</vt:lpstr>
      <vt:lpstr>U.S. 101</vt:lpstr>
      <vt:lpstr>Roboto</vt:lpstr>
      <vt:lpstr>Aller Light</vt:lpstr>
      <vt:lpstr>DejaVu Math TeX Gyre</vt:lpstr>
      <vt:lpstr>Roboto Light</vt:lpstr>
      <vt:lpstr>Verdana</vt:lpstr>
      <vt:lpstr>Lato Light</vt:lpstr>
      <vt:lpstr>Lato Regular</vt:lpstr>
      <vt:lpstr>微软雅黑 Light</vt:lpstr>
      <vt:lpstr>Segoe UI Semilight</vt:lpstr>
      <vt:lpstr>Agency FB</vt:lpstr>
      <vt:lpstr>Trebuchet MS</vt:lpstr>
      <vt:lpstr>Segoe UI</vt:lpstr>
      <vt:lpstr>DIN</vt:lpstr>
      <vt:lpstr>Calibri</vt:lpstr>
      <vt:lpstr>方正仿宋_GBK</vt:lpstr>
      <vt:lpstr>楷体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宋奕杰</cp:lastModifiedBy>
  <cp:revision>114</cp:revision>
  <dcterms:created xsi:type="dcterms:W3CDTF">2018-11-26T00:51:00Z</dcterms:created>
  <dcterms:modified xsi:type="dcterms:W3CDTF">2026-05-20T14:51:52Z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0A1D071AE65E42FFB4332A6F165C053B_12</vt:lpwstr>
  </property>
</Properties>
</file>